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4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30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176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1176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1176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1176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1176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1176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1176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0128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0128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0128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9080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9080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69080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9080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9080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9080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28032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8032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28032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8032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86984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86984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6984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86984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86984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86984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86984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45936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45936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45936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5936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45936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45936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5936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04888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04888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04888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04888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04888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04888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04888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63840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63840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63840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63840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63840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63840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63840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22792" y="228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22792" y="914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22792" y="16002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22792" y="22860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22792" y="29718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22792" y="36576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22792" y="4343400"/>
            <a:ext cx="45720" cy="45720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0" y="640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097280" y="16916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</a:t>
            </a:r>
            <a:endParaRPr lang="en-US" sz="6600" dirty="0"/>
          </a:p>
        </p:txBody>
      </p:sp>
      <p:sp>
        <p:nvSpPr>
          <p:cNvPr id="91" name="Text 89"/>
          <p:cNvSpPr/>
          <p:nvPr/>
        </p:nvSpPr>
        <p:spPr>
          <a:xfrm>
            <a:off x="1097280" y="25146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6600" dirty="0"/>
          </a:p>
        </p:txBody>
      </p:sp>
      <p:sp>
        <p:nvSpPr>
          <p:cNvPr id="92" name="Shape 90"/>
          <p:cNvSpPr/>
          <p:nvPr/>
        </p:nvSpPr>
        <p:spPr>
          <a:xfrm>
            <a:off x="1097280" y="3493008"/>
            <a:ext cx="2286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97280" y="3611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conecta você ao conforto.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109728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Climatização · Tecnologia · Inovação</a:t>
            </a:r>
            <a:endParaRPr lang="en-US" sz="1100" dirty="0"/>
          </a:p>
        </p:txBody>
      </p:sp>
      <p:pic>
        <p:nvPicPr>
          <p:cNvPr id="9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589520" y="914400"/>
            <a:ext cx="1005840" cy="1005840"/>
          </a:xfrm>
          <a:prstGeom prst="rect">
            <a:avLst/>
          </a:prstGeom>
        </p:spPr>
      </p:pic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8046720" y="2286000"/>
            <a:ext cx="640080" cy="640080"/>
          </a:xfrm>
          <a:prstGeom prst="rect">
            <a:avLst/>
          </a:prstGeom>
        </p:spPr>
      </p:pic>
      <p:pic>
        <p:nvPicPr>
          <p:cNvPr id="97" name="Image 2" descr="preencoded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7223760" y="3017520"/>
            <a:ext cx="594360" cy="594360"/>
          </a:xfrm>
          <a:prstGeom prst="rect">
            <a:avLst/>
          </a:prstGeom>
        </p:spPr>
      </p:pic>
      <p:pic>
        <p:nvPicPr>
          <p:cNvPr id="99" name="Imagem 98">
            <a:extLst>
              <a:ext uri="{FF2B5EF4-FFF2-40B4-BE49-F238E27FC236}">
                <a16:creationId xmlns:a16="http://schemas.microsoft.com/office/drawing/2014/main" id="{6822EE56-BD7B-FE55-AB23-A7E57A76EC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64" b="91798" l="9971" r="89443">
                        <a14:foregroundMark x1="9971" y1="59306" x2="9971" y2="59306"/>
                        <a14:foregroundMark x1="23460" y1="89905" x2="23460" y2="89905"/>
                        <a14:foregroundMark x1="78299" y1="91167" x2="78299" y2="91167"/>
                        <a14:foregroundMark x1="21701" y1="91167" x2="21701" y2="91167"/>
                        <a14:foregroundMark x1="24340" y1="91798" x2="24340" y2="917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2604" y="449975"/>
            <a:ext cx="1630760" cy="1515985"/>
          </a:xfrm>
          <a:prstGeom prst="rect">
            <a:avLst/>
          </a:prstGeom>
          <a:effectLst>
            <a:outerShdw dir="5400000" sx="200000" sy="2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inteligentes para climatização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Infinity Tech é uma empresa moderna e especializada em soluções completas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climatização, unindo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ao atendimento personalizado.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1E40AF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27685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2221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Online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7552" y="2459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Rápidos e transparentes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1E40AF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8163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Peças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completo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rgbClr val="1E40AF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3558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3300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Especializ.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87552" y="3538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certificada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858768"/>
            <a:ext cx="384048" cy="384048"/>
          </a:xfrm>
          <a:prstGeom prst="ellipse">
            <a:avLst/>
          </a:prstGeom>
          <a:solidFill>
            <a:srgbClr val="1E40AF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89534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Atend. Digital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87552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24/7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398264"/>
            <a:ext cx="384048" cy="384048"/>
          </a:xfrm>
          <a:prstGeom prst="ellipse">
            <a:avLst/>
          </a:prstGeom>
          <a:solidFill>
            <a:srgbClr val="1E40AF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4348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4379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 Agilidade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87552" y="4617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0" y="457200"/>
            <a:ext cx="3200400" cy="4343400"/>
          </a:xfrm>
          <a:prstGeom prst="roundRect">
            <a:avLst>
              <a:gd name="adj" fmla="val 3429"/>
            </a:avLst>
          </a:prstGeom>
          <a:solidFill>
            <a:srgbClr val="1A1A35"/>
          </a:solidFill>
          <a:ln w="9525">
            <a:solidFill>
              <a:srgbClr val="334155"/>
            </a:solidFill>
            <a:prstDash val="solid"/>
          </a:ln>
          <a:effectLst>
            <a:outerShdw blurRad="127000" dist="50800" dir="2700000" algn="bl" rotWithShape="0">
              <a:srgbClr val="7C3AED">
                <a:alpha val="30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5623560" y="640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Tech?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5669280" y="150876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D0D1A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16184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36208" y="1664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 no atendimento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669280" y="2258568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D0D1A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2368296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236208" y="24140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transparência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5669280" y="3008376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D0D1A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6440" y="3118104"/>
            <a:ext cx="347472" cy="34747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36208" y="31638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ponta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5669280" y="3758184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D0D1A">
              <a:alpha val="80000"/>
            </a:srgbClr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6440" y="3867912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236208" y="391363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custo-benefício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 climatização ainda enfrenta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desafios para os clientes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377440" cy="1207008"/>
          </a:xfrm>
          <a:prstGeom prst="roundRect">
            <a:avLst>
              <a:gd name="adj" fmla="val 9091"/>
            </a:avLst>
          </a:prstGeom>
          <a:solidFill>
            <a:srgbClr val="1A1A35"/>
          </a:solidFill>
          <a:ln w="9525">
            <a:solidFill>
              <a:srgbClr val="F87171"/>
            </a:solidFill>
            <a:prstDash val="solid"/>
          </a:ln>
          <a:effectLst>
            <a:outerShdw blurRad="127000" dist="50800" dir="2700000" algn="bl" rotWithShape="0">
              <a:srgbClr val="F87171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09928"/>
            <a:ext cx="502920" cy="502920"/>
          </a:xfrm>
          <a:prstGeom prst="ellipse">
            <a:avLst/>
          </a:prstGeom>
          <a:solidFill>
            <a:srgbClr val="F87171">
              <a:alpha val="25000"/>
            </a:srgbClr>
          </a:solidFill>
          <a:ln w="6350">
            <a:solidFill>
              <a:srgbClr val="F8717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7393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286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para encontrar peças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017520" y="1572768"/>
            <a:ext cx="2377440" cy="1207008"/>
          </a:xfrm>
          <a:prstGeom prst="roundRect">
            <a:avLst>
              <a:gd name="adj" fmla="val 9091"/>
            </a:avLst>
          </a:prstGeom>
          <a:solidFill>
            <a:srgbClr val="1A1A35"/>
          </a:solidFill>
          <a:ln w="9525">
            <a:solidFill>
              <a:srgbClr val="FB923C"/>
            </a:solidFill>
            <a:prstDash val="solid"/>
          </a:ln>
          <a:effectLst>
            <a:outerShdw blurRad="127000" dist="50800" dir="2700000" algn="bl" rotWithShape="0">
              <a:srgbClr val="FB923C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709928"/>
            <a:ext cx="502920" cy="502920"/>
          </a:xfrm>
          <a:prstGeom prst="ellipse">
            <a:avLst/>
          </a:prstGeom>
          <a:solidFill>
            <a:srgbClr val="FB923C">
              <a:alpha val="25000"/>
            </a:srgbClr>
          </a:solidFill>
          <a:ln w="6350">
            <a:solidFill>
              <a:srgbClr val="FB923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177393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8960" y="2286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para conseguir orçamento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77840" y="1572768"/>
            <a:ext cx="2377440" cy="1207008"/>
          </a:xfrm>
          <a:prstGeom prst="roundRect">
            <a:avLst>
              <a:gd name="adj" fmla="val 9091"/>
            </a:avLst>
          </a:prstGeom>
          <a:solidFill>
            <a:srgbClr val="1A1A35"/>
          </a:solidFill>
          <a:ln w="9525">
            <a:solidFill>
              <a:srgbClr val="FACC15"/>
            </a:solidFill>
            <a:prstDash val="solid"/>
          </a:ln>
          <a:effectLst>
            <a:outerShdw blurRad="127000" dist="50800" dir="2700000" algn="bl" rotWithShape="0">
              <a:srgbClr val="FACC15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1709928"/>
            <a:ext cx="502920" cy="502920"/>
          </a:xfrm>
          <a:prstGeom prst="ellipse">
            <a:avLst/>
          </a:prstGeom>
          <a:solidFill>
            <a:srgbClr val="FACC15">
              <a:alpha val="25000"/>
            </a:srgbClr>
          </a:solidFill>
          <a:ln w="6350">
            <a:solidFill>
              <a:srgbClr val="FACC1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177393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69280" y="2286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transparência nos preços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737360" y="2971800"/>
            <a:ext cx="2377440" cy="1207008"/>
          </a:xfrm>
          <a:prstGeom prst="roundRect">
            <a:avLst>
              <a:gd name="adj" fmla="val 9091"/>
            </a:avLst>
          </a:prstGeom>
          <a:solidFill>
            <a:srgbClr val="1A1A35"/>
          </a:solidFill>
          <a:ln w="9525">
            <a:solidFill>
              <a:srgbClr val="F87171"/>
            </a:solidFill>
            <a:prstDash val="solid"/>
          </a:ln>
          <a:effectLst>
            <a:outerShdw blurRad="127000" dist="50800" dir="2700000" algn="bl" rotWithShape="0">
              <a:srgbClr val="F87171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874520" y="3108960"/>
            <a:ext cx="502920" cy="502920"/>
          </a:xfrm>
          <a:prstGeom prst="ellipse">
            <a:avLst/>
          </a:prstGeom>
          <a:solidFill>
            <a:srgbClr val="F87171">
              <a:alpha val="25000"/>
            </a:srgbClr>
          </a:solidFill>
          <a:ln w="6350">
            <a:solidFill>
              <a:srgbClr val="F8717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9384" y="31729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36850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lento e ineficiente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2971800"/>
            <a:ext cx="2377440" cy="1207008"/>
          </a:xfrm>
          <a:prstGeom prst="roundRect">
            <a:avLst>
              <a:gd name="adj" fmla="val 9091"/>
            </a:avLst>
          </a:prstGeom>
          <a:solidFill>
            <a:srgbClr val="1A1A35"/>
          </a:solidFill>
          <a:ln w="9525">
            <a:solidFill>
              <a:srgbClr val="A78BFA"/>
            </a:solidFill>
            <a:prstDash val="solid"/>
          </a:ln>
          <a:effectLst>
            <a:outerShdw blurRad="127000" dist="50800" dir="2700000" algn="bl" rotWithShape="0">
              <a:srgbClr val="A78BFA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3108960"/>
            <a:ext cx="502920" cy="502920"/>
          </a:xfrm>
          <a:prstGeom prst="ellipse">
            <a:avLst/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704" y="317296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0" y="36850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praticidade digital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 serviço do seu conforto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  <a:effectLst>
            <a:outerShdw blurRad="101600" dist="50800" dir="2700000" algn="bl" rotWithShape="0">
              <a:srgbClr val="2563EB">
                <a:alpha val="2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0817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Intuitiva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12264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  <a:effectLst>
            <a:outerShdw blurRad="101600" dist="50800" dir="2700000" algn="bl" rotWithShape="0">
              <a:srgbClr val="2563EB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2951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Online em Minutos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990088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  <a:effectLst>
            <a:outerShdw blurRad="101600" dist="50800" dir="2700000" algn="bl" rotWithShape="0">
              <a:srgbClr val="2563EB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6382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Especializados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867912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  <a:effectLst>
            <a:outerShdw blurRad="101600" dist="50800" dir="2700000" algn="bl" rotWithShape="0">
              <a:srgbClr val="2563EB">
                <a:alpha val="2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04164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0507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Peças Rápida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Atendimento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806440" y="2011680"/>
            <a:ext cx="0" cy="292608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ash"/>
          </a:ln>
        </p:spPr>
      </p:sp>
      <p:sp>
        <p:nvSpPr>
          <p:cNvPr id="22" name="Shape 16"/>
          <p:cNvSpPr/>
          <p:nvPr/>
        </p:nvSpPr>
        <p:spPr>
          <a:xfrm>
            <a:off x="4663440" y="1627632"/>
            <a:ext cx="502920" cy="38404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63440" y="1627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285232" y="1609344"/>
            <a:ext cx="3401568" cy="420624"/>
          </a:xfrm>
          <a:prstGeom prst="roundRect">
            <a:avLst>
              <a:gd name="adj" fmla="val 1739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376672" y="168249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806440" y="2679192"/>
            <a:ext cx="0" cy="292608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ash"/>
          </a:ln>
        </p:spPr>
      </p:sp>
      <p:sp>
        <p:nvSpPr>
          <p:cNvPr id="27" name="Shape 21"/>
          <p:cNvSpPr/>
          <p:nvPr/>
        </p:nvSpPr>
        <p:spPr>
          <a:xfrm>
            <a:off x="4663440" y="2295144"/>
            <a:ext cx="502920" cy="384048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663440" y="22951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285232" y="2276856"/>
            <a:ext cx="3401568" cy="420624"/>
          </a:xfrm>
          <a:prstGeom prst="roundRect">
            <a:avLst>
              <a:gd name="adj" fmla="val 17391"/>
            </a:avLst>
          </a:prstGeom>
          <a:solidFill>
            <a:srgbClr val="1A1A35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76672" y="23500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Orçamento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806440" y="3346704"/>
            <a:ext cx="0" cy="292608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ash"/>
          </a:ln>
        </p:spPr>
      </p:sp>
      <p:sp>
        <p:nvSpPr>
          <p:cNvPr id="32" name="Shape 26"/>
          <p:cNvSpPr/>
          <p:nvPr/>
        </p:nvSpPr>
        <p:spPr>
          <a:xfrm>
            <a:off x="4663440" y="2962656"/>
            <a:ext cx="502920" cy="38404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663440" y="29626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285232" y="2944368"/>
            <a:ext cx="3401568" cy="420624"/>
          </a:xfrm>
          <a:prstGeom prst="roundRect">
            <a:avLst>
              <a:gd name="adj" fmla="val 17391"/>
            </a:avLst>
          </a:prstGeom>
          <a:solidFill>
            <a:srgbClr val="1A1A35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376672" y="301752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Proposta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5806440" y="4014216"/>
            <a:ext cx="0" cy="292608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ash"/>
          </a:ln>
        </p:spPr>
      </p:sp>
      <p:sp>
        <p:nvSpPr>
          <p:cNvPr id="37" name="Shape 31"/>
          <p:cNvSpPr/>
          <p:nvPr/>
        </p:nvSpPr>
        <p:spPr>
          <a:xfrm>
            <a:off x="4663440" y="3630168"/>
            <a:ext cx="502920" cy="384048"/>
          </a:xfrm>
          <a:prstGeom prst="ellipse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663440" y="3630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5285232" y="3611880"/>
            <a:ext cx="3401568" cy="420624"/>
          </a:xfrm>
          <a:prstGeom prst="roundRect">
            <a:avLst>
              <a:gd name="adj" fmla="val 17391"/>
            </a:avLst>
          </a:prstGeom>
          <a:solidFill>
            <a:srgbClr val="1A1A35"/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376672" y="368503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4663440" y="4297680"/>
            <a:ext cx="502920" cy="38404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663440" y="4297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5285232" y="4279392"/>
            <a:ext cx="3401568" cy="420624"/>
          </a:xfrm>
          <a:prstGeom prst="roundRect">
            <a:avLst>
              <a:gd name="adj" fmla="val 17391"/>
            </a:avLst>
          </a:prstGeom>
          <a:solidFill>
            <a:srgbClr val="1A1A35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376672" y="43525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 Serviço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torna únicos no mercado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426464"/>
            <a:ext cx="822960" cy="822960"/>
          </a:xfrm>
          <a:prstGeom prst="ellipse">
            <a:avLst/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63624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322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Rápido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06040" y="12618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A78BFA"/>
            </a:solidFill>
            <a:prstDash val="solid"/>
          </a:ln>
          <a:effectLst>
            <a:outerShdw blurRad="127000" dist="50800" dir="2700000" algn="bl" rotWithShape="0">
              <a:srgbClr val="A78BFA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426464"/>
            <a:ext cx="822960" cy="822960"/>
          </a:xfrm>
          <a:prstGeom prst="ellipse">
            <a:avLst/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63624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322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Aplicada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0600" y="12618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06B6D4"/>
            </a:solidFill>
            <a:prstDash val="solid"/>
          </a:ln>
          <a:effectLst>
            <a:outerShdw blurRad="127000" dist="50800" dir="2700000" algn="bl" rotWithShape="0">
              <a:srgbClr val="06B6D4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67528" y="1426464"/>
            <a:ext cx="822960" cy="822960"/>
          </a:xfrm>
          <a:prstGeom prst="ellipse">
            <a:avLst/>
          </a:prstGeom>
          <a:solidFill>
            <a:srgbClr val="06B6D4">
              <a:alpha val="22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563624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2322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Online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95160" y="12618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62088" y="1426464"/>
            <a:ext cx="822960" cy="822960"/>
          </a:xfrm>
          <a:prstGeom prst="ellipse">
            <a:avLst/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1563624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2322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Especializada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11480" y="30906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A78BFA"/>
            </a:solidFill>
            <a:prstDash val="solid"/>
          </a:ln>
          <a:effectLst>
            <a:outerShdw blurRad="127000" dist="50800" dir="2700000" algn="bl" rotWithShape="0">
              <a:srgbClr val="A78BFA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8408" y="3255264"/>
            <a:ext cx="822960" cy="822960"/>
          </a:xfrm>
          <a:prstGeom prst="ellipse">
            <a:avLst/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3392424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" y="41513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de Contato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2606040" y="30906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72968" y="3255264"/>
            <a:ext cx="822960" cy="822960"/>
          </a:xfrm>
          <a:prstGeom prst="ellipse">
            <a:avLst/>
          </a:prstGeom>
          <a:solidFill>
            <a:srgbClr val="34D399">
              <a:alpha val="22000"/>
            </a:srgbClr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3392424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97480" y="41513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Total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4800600" y="30906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367528" y="3255264"/>
            <a:ext cx="822960" cy="822960"/>
          </a:xfrm>
          <a:prstGeom prst="ellipse">
            <a:avLst/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3392424"/>
            <a:ext cx="548640" cy="5486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92040" y="41513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995160" y="3090672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A1A35"/>
          </a:solidFill>
          <a:ln w="9525">
            <a:solidFill>
              <a:srgbClr val="FACC15"/>
            </a:solidFill>
            <a:prstDash val="solid"/>
          </a:ln>
          <a:effectLst>
            <a:outerShdw blurRad="127000" dist="50800" dir="2700000" algn="bl" rotWithShape="0">
              <a:srgbClr val="FACC15">
                <a:alpha val="3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562088" y="3255264"/>
            <a:ext cx="822960" cy="822960"/>
          </a:xfrm>
          <a:prstGeom prst="ellipse">
            <a:avLst/>
          </a:prstGeom>
          <a:solidFill>
            <a:srgbClr val="FACC15">
              <a:alpha val="22000"/>
            </a:srgbClr>
          </a:solidFill>
          <a:ln w="9525">
            <a:solidFill>
              <a:srgbClr val="FACC15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248" y="3392424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086600" y="41513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se beneficiar dos nossos serviços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389888"/>
            <a:ext cx="640080" cy="640080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9047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0160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e conforto doméstico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37560" y="1261872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A78BFA"/>
            </a:solidFill>
            <a:prstDash val="solid"/>
          </a:ln>
          <a:effectLst>
            <a:outerShdw blurRad="127000" dist="50800" dir="2700000" algn="bl" rotWithShape="0">
              <a:srgbClr val="A78BFA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7288" y="1389888"/>
            <a:ext cx="640080" cy="640080"/>
          </a:xfrm>
          <a:prstGeom prst="ellipse">
            <a:avLst/>
          </a:prstGeom>
          <a:solidFill>
            <a:srgbClr val="A78BFA">
              <a:alpha val="28000"/>
            </a:srgbClr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49047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06240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206240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corporativos climatizados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1261872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FACC15"/>
            </a:solidFill>
            <a:prstDash val="solid"/>
          </a:ln>
          <a:effectLst>
            <a:outerShdw blurRad="127000" dist="50800" dir="2700000" algn="bl" rotWithShape="0">
              <a:srgbClr val="FACC15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1389888"/>
            <a:ext cx="640080" cy="640080"/>
          </a:xfrm>
          <a:prstGeom prst="ellipse">
            <a:avLst/>
          </a:prstGeom>
          <a:solidFill>
            <a:srgbClr val="FACC15">
              <a:alpha val="28000"/>
            </a:srgbClr>
          </a:solidFill>
          <a:ln w="9525">
            <a:solidFill>
              <a:srgbClr val="FACC1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4904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32320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e estabelecimentos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1480" y="298094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21208" y="3108960"/>
            <a:ext cx="640080" cy="640080"/>
          </a:xfrm>
          <a:prstGeom prst="ellipse">
            <a:avLst/>
          </a:prstGeom>
          <a:solidFill>
            <a:srgbClr val="34D399">
              <a:alpha val="28000"/>
            </a:srgbClr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209544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1089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280160" y="34564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comuns e unidades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37560" y="298094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47288" y="3108960"/>
            <a:ext cx="640080" cy="640080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209544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06240" y="31089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206240" y="34564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com conforto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63640" y="298094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1A1A35"/>
          </a:solidFill>
          <a:ln w="9525">
            <a:solidFill>
              <a:srgbClr val="FB923C"/>
            </a:solidFill>
            <a:prstDash val="solid"/>
          </a:ln>
          <a:effectLst>
            <a:outerShdw blurRad="127000" dist="50800" dir="2700000" algn="bl" rotWithShape="0">
              <a:srgbClr val="FB923C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373368" y="3108960"/>
            <a:ext cx="640080" cy="640080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209544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32320" y="31089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em Refrig.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132320" y="34564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 suprimento de peças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exclusivas para nossos clientes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38988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99616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4081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98448" y="17556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ágil do início ao fim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26187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7288" y="138988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49961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24528" y="14081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Praticidade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224528" y="17556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100% digital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26187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138988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49961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50608" y="14081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Rápido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50608" y="17556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horas, não dias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11480" y="304495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21208" y="317296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282696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98448" y="31912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Peças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298448" y="353872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 disponível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337560" y="304495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47288" y="317296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282696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24528" y="31912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Conforto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224528" y="353872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funcionando bem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63640" y="3044952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1A1A35"/>
          </a:solidFill>
          <a:ln w="7620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373368" y="3172968"/>
            <a:ext cx="658368" cy="658368"/>
          </a:xfrm>
          <a:prstGeom prst="ellipse">
            <a:avLst/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3282696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50608" y="31912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Eficiente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150608" y="353872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definitiva do problema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VISÃO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mercado de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climatização por meio da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Acreditamos que toda solução de climatização deve ser acessível, ágil e confiável.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Infinity Tech nasce para quebrar as barreiras do atendimento convencional.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2697480" cy="2633472"/>
          </a:xfrm>
          <a:prstGeom prst="roundRect">
            <a:avLst>
              <a:gd name="adj" fmla="val 4167"/>
            </a:avLst>
          </a:prstGeom>
          <a:solidFill>
            <a:srgbClr val="1A1A35"/>
          </a:solidFill>
          <a:ln w="9525">
            <a:solidFill>
              <a:srgbClr val="60A5FA"/>
            </a:solidFill>
            <a:prstDash val="solid"/>
          </a:ln>
          <a:effectLst>
            <a:outerShdw blurRad="127000" dist="50800" dir="2700000" algn="bl" rotWithShape="0">
              <a:srgbClr val="60A5F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9888" y="2331720"/>
            <a:ext cx="731520" cy="731520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4688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54787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soluções digitais ágeis e acessíveis para o setor de climatização, conectando clientes a serviços especializados com transparência e confiança.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37560" y="2194560"/>
            <a:ext cx="2697480" cy="2633472"/>
          </a:xfrm>
          <a:prstGeom prst="roundRect">
            <a:avLst>
              <a:gd name="adj" fmla="val 4167"/>
            </a:avLst>
          </a:prstGeom>
          <a:solidFill>
            <a:srgbClr val="1A1A35"/>
          </a:solidFill>
          <a:ln w="9525">
            <a:solidFill>
              <a:srgbClr val="A78BFA"/>
            </a:solidFill>
            <a:prstDash val="solid"/>
          </a:ln>
          <a:effectLst>
            <a:outerShdw blurRad="127000" dist="50800" dir="2700000" algn="bl" rotWithShape="0">
              <a:srgbClr val="A78BFA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15968" y="2331720"/>
            <a:ext cx="731520" cy="731520"/>
          </a:xfrm>
          <a:prstGeom prst="ellipse">
            <a:avLst/>
          </a:prstGeom>
          <a:solidFill>
            <a:srgbClr val="A78BFA">
              <a:alpha val="28000"/>
            </a:srgbClr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4688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74720" y="354787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referência nacional em soluções digitais de climatização, reconhecida pela inovação, qualidade e excelência no atendimento ao cliente.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2194560"/>
            <a:ext cx="2697480" cy="2633472"/>
          </a:xfrm>
          <a:prstGeom prst="roundRect">
            <a:avLst>
              <a:gd name="adj" fmla="val 4167"/>
            </a:avLst>
          </a:prstGeom>
          <a:solidFill>
            <a:srgbClr val="1A1A35"/>
          </a:solidFill>
          <a:ln w="9525">
            <a:solidFill>
              <a:srgbClr val="34D399"/>
            </a:solidFill>
            <a:prstDash val="solid"/>
          </a:ln>
          <a:effectLst>
            <a:outerShdw blurRad="127000" dist="50800" dir="2700000" algn="bl" rotWithShape="0">
              <a:srgbClr val="34D399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42048" y="2331720"/>
            <a:ext cx="731520" cy="731520"/>
          </a:xfrm>
          <a:prstGeom prst="ellipse">
            <a:avLst/>
          </a:prstGeom>
          <a:solidFill>
            <a:srgbClr val="34D399">
              <a:alpha val="28000"/>
            </a:srgbClr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24688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0" y="354787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· Transparência · Agilidade · Comprometimento · Qualidade · Confiança · Respeito ao cliente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109728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9728"/>
            <a:ext cx="365760" cy="4572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e inovação em constante evolução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blurRad="177800" dist="50800" dir="2700000" algn="bl" rotWithShape="0">
              <a:srgbClr val="60A5F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362456"/>
            <a:ext cx="658368" cy="658368"/>
          </a:xfrm>
          <a:prstGeom prst="ellipse">
            <a:avLst/>
          </a:prstGeom>
          <a:solidFill>
            <a:srgbClr val="60A5FA">
              <a:alpha val="30000"/>
            </a:srgbClr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72184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9304" y="13807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Próprio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9304" y="17647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 &amp; Android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234440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blurRad="177800" dist="50800" dir="2700000" algn="bl" rotWithShape="0">
              <a:srgbClr val="A78BFA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7288" y="1362456"/>
            <a:ext cx="658368" cy="658368"/>
          </a:xfrm>
          <a:prstGeom prst="ellipse">
            <a:avLst/>
          </a:prstGeom>
          <a:solidFill>
            <a:srgbClr val="A78BFA">
              <a:alpha val="30000"/>
            </a:srgbClr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47218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15384" y="13807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Orçamentos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215384" y="17647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234440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177800" dist="50800" dir="2700000" algn="bl" rotWithShape="0">
              <a:srgbClr val="06B6D4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1362456"/>
            <a:ext cx="658368" cy="658368"/>
          </a:xfrm>
          <a:prstGeom prst="ellipse">
            <a:avLst/>
          </a:prstGeom>
          <a:solidFill>
            <a:srgbClr val="06B6D4">
              <a:alpha val="30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47218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41464" y="13807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Online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141464" y="17647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em tempo real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11480" y="3081528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177800" dist="50800" dir="2700000" algn="bl" rotWithShape="0">
              <a:srgbClr val="34D399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21208" y="3209544"/>
            <a:ext cx="658368" cy="658368"/>
          </a:xfrm>
          <a:prstGeom prst="ellipse">
            <a:avLst/>
          </a:prstGeom>
          <a:solidFill>
            <a:srgbClr val="34D399">
              <a:alpha val="30000"/>
            </a:srgbClr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31927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9304" y="32278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Automático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289304" y="361188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337560" y="3081528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FACC15"/>
            </a:solidFill>
            <a:prstDash val="solid"/>
          </a:ln>
          <a:effectLst>
            <a:outerShdw blurRad="177800" dist="50800" dir="2700000" algn="bl" rotWithShape="0">
              <a:srgbClr val="FACC15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47288" y="3209544"/>
            <a:ext cx="658368" cy="658368"/>
          </a:xfrm>
          <a:prstGeom prst="ellipse">
            <a:avLst/>
          </a:prstGeom>
          <a:solidFill>
            <a:srgbClr val="FACC15">
              <a:alpha val="30000"/>
            </a:srgbClr>
          </a:solidFill>
          <a:ln w="9525">
            <a:solidFill>
              <a:srgbClr val="FACC15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31927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15384" y="32278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Peças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215384" y="361188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63640" y="3081528"/>
            <a:ext cx="2697480" cy="1572768"/>
          </a:xfrm>
          <a:prstGeom prst="roundRect">
            <a:avLst>
              <a:gd name="adj" fmla="val 8721"/>
            </a:avLst>
          </a:prstGeom>
          <a:solidFill>
            <a:srgbClr val="1A1A35">
              <a:alpha val="90000"/>
            </a:srgbClr>
          </a:solidFill>
          <a:ln w="12700">
            <a:solidFill>
              <a:srgbClr val="FB923C"/>
            </a:solidFill>
            <a:prstDash val="solid"/>
          </a:ln>
          <a:effectLst>
            <a:outerShdw blurRad="177800" dist="50800" dir="2700000" algn="bl" rotWithShape="0">
              <a:srgbClr val="FB923C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373368" y="3209544"/>
            <a:ext cx="658368" cy="658368"/>
          </a:xfrm>
          <a:prstGeom prst="ellipse">
            <a:avLst/>
          </a:prstGeom>
          <a:solidFill>
            <a:srgbClr val="FB923C">
              <a:alpha val="30000"/>
            </a:srgbClr>
          </a:solidFill>
          <a:ln w="9525">
            <a:solidFill>
              <a:srgbClr val="FB923C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3319272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41464" y="32278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Nacional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141464" y="361188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regiões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407</Words>
  <Application>Microsoft Office PowerPoint</Application>
  <PresentationFormat>Apresentação na tela (16:9)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Tech – Apresentação Corporativa</dc:title>
  <dc:subject>PptxGenJS Presentation</dc:subject>
  <dc:creator>Infinite Tech</dc:creator>
  <cp:lastModifiedBy>JULIA WEISS</cp:lastModifiedBy>
  <cp:revision>2</cp:revision>
  <dcterms:created xsi:type="dcterms:W3CDTF">2026-06-29T23:38:00Z</dcterms:created>
  <dcterms:modified xsi:type="dcterms:W3CDTF">2026-06-30T00:18:40Z</dcterms:modified>
</cp:coreProperties>
</file>